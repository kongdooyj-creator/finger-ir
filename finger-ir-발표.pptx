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327f5b47-f29f-de7b-7641-1d1c84becabe}">
          <p14:sldIdLst>
            <p14:sldId id="256"/>
          </p14:sldIdLst>
        </p14:section>
        <p14:section name="본문" id="{88ad84d1-9486-2a36-bbbb-ef252969f44c}">
          <p14:sldIdLst>
            <p14:sldId id="257"/>
            <p14:sldId id="258"/>
            <p14:sldId id="259"/>
          </p14:sldIdLst>
        </p14:section>
        <p14:section name="마무리" id="{065b5817-336b-55b3-0e39-2d5ee068be2d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핑거 관련 기사를 2시간마다 자동으로 모아 AI가 분류하고, 휴대폰에서 바로 보는 사이트입니다. 기존에는 PC 엑셀을 동기화하는 방식이라 PC가 꺼지면 멈췄는데, 이번에 완전 서버리스로 다시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왼쪽이 기존, 오른쪽이 지금입니다. 핵심은 PC 없이 클라우드에서 혼자 돈다는 것, 그리고 분류를 AI가 먼저 해 준다는 것입니다. 비용은 Cloudflare 무료 플랜 안에서 해결됩니다.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단계는 다섯 개입니다. 핑거는 손가락, 핑거푸드 같은 일반 명사와 겹쳐서 오탐 제거가 중요합니다. 첫 실행에서 후보 305건 중 7건만 살아남았습니다. AI 분류가 실패하면 키워드 규칙으로 넘어가고, 제가 화면에서 고친 값은 자동 수집이 덮어쓰지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화면은 대시보드, 이슈로그, 기사아카이브 세 개입니다. 등급 기준은 /criteria 페이지에 그대로 올려 두었고, AI가 확신하지 못하면 '확인 필요'로 남겨서 사람이 확정합니다. 현재 이슈 18건, 미해결 14건, 그중 심각도 상 7건입니다.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텔레그램 알림은 아직 안 넣었는데 이번 주에 붙일 예정입니다. 나머지 셋은 구조가 이미 받쳐 주는 것들이라 키 등록이나 소스 추가만으로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finger-ir.1120joon.workers.dev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핑거 IR 자동 뉴스 클리핑 · finger-ir.1120joon.workers.dev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48640" y="6858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핑거 IR · 자동 뉴스 클리핑</a:t>
            </a:r>
            <a:endParaRPr lang="en-US" sz="14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09728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bg1"/>
                </a:solidFill>
              </a:rPr>
              <a:t>PC를 꺼도 2시간마다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chemeClr val="bg1"/>
                </a:solidFill>
              </a:rPr>
              <a:t>혼자 돌아가는 IR 뉴스 모니터링</a:t>
            </a:r>
            <a:endParaRPr lang="en-US" sz="29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5146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(주)핑거(163730) 관련 기사를 자동 수집하고, AI가 논조·심각도를 판정해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휴대폰 대시보드로 보여 주는 Cloudflare Workers 사이트</a:t>
            </a:r>
            <a:endParaRPr lang="en-US" sz="1400" dirty="0"/>
          </a:p>
        </p:txBody>
      </p:sp>
      <p:sp>
        <p:nvSpPr>
          <p:cNvPr id="5" name="url-chip"/>
          <p:cNvSpPr/>
          <p:nvPr/>
        </p:nvSpPr>
        <p:spPr>
          <a:xfrm>
            <a:off x="548640" y="3474720"/>
            <a:ext cx="324612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6" name="url"/>
          <p:cNvSpPr txBox="1"/>
          <p:nvPr/>
        </p:nvSpPr>
        <p:spPr>
          <a:xfrm>
            <a:off x="685800" y="3474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https://finger-ir.1120joon.workers.dev</a:t>
            </a:r>
            <a:endParaRPr lang="en-US" sz="1200" dirty="0"/>
          </a:p>
        </p:txBody>
      </p:sp>
      <p:sp>
        <p:nvSpPr>
          <p:cNvPr id="7" name="date"/>
          <p:cNvSpPr txBox="1"/>
          <p:nvPr/>
        </p:nvSpPr>
        <p:spPr>
          <a:xfrm>
            <a:off x="3977640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2026.10.19</a:t>
            </a:r>
            <a:endParaRPr lang="en-US" sz="1200" dirty="0"/>
          </a:p>
        </p:txBody>
      </p:sp>
      <p:sp>
        <p:nvSpPr>
          <p:cNvPr id="8" name="phone-frame"/>
          <p:cNvSpPr/>
          <p:nvPr/>
        </p:nvSpPr>
        <p:spPr>
          <a:xfrm>
            <a:off x="6537960" y="274320"/>
            <a:ext cx="2240280" cy="4617720"/>
          </a:xfrm>
          <a:prstGeom prst="roundRect">
            <a:avLst>
              <a:gd name="adj" fmla="val 8163"/>
            </a:avLst>
          </a:prstGeom>
          <a:solidFill>
            <a:schemeClr val="tx2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9" name="대시보드 화면" descr="C:\Users\USER\AppData\Local\Temp\claude\C--Users-USER-Desktop-finger-ir\18dbb6d6-a40e-41a1-90d2-93f075989dbe\scratchpad\deck\pho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832" y="393192"/>
            <a:ext cx="2002536" cy="43342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엑셀 동기화에서 서버리스로</a:t>
            </a:r>
            <a:endParaRPr lang="en-US" sz="2800" dirty="0"/>
          </a:p>
        </p:txBody>
      </p:sp>
      <p:sp>
        <p:nvSpPr>
          <p:cNvPr id="3" name="before-card"/>
          <p:cNvSpPr/>
          <p:nvPr/>
        </p:nvSpPr>
        <p:spPr>
          <a:xfrm>
            <a:off x="457200" y="1097280"/>
            <a:ext cx="39776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4" name="before-head"/>
          <p:cNvSpPr txBox="1"/>
          <p:nvPr/>
        </p:nvSpPr>
        <p:spPr>
          <a:xfrm>
            <a:off x="73152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기존 · PC 엑셀 동기화</a:t>
            </a:r>
            <a:endParaRPr lang="en-US" sz="1600" dirty="0"/>
          </a:p>
        </p:txBody>
      </p:sp>
      <p:sp>
        <p:nvSpPr>
          <p:cNvPr id="5" name="before-body"/>
          <p:cNvSpPr txBox="1"/>
          <p:nvPr/>
        </p:nvSpPr>
        <p:spPr>
          <a:xfrm>
            <a:off x="731520" y="16916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PC가 꺼지면 수집이 멈춤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기사 검색과 분류를 손으로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확인은 PC 앞에서만 가능</a:t>
            </a:r>
            <a:endParaRPr lang="en-US" sz="1400" dirty="0"/>
          </a:p>
        </p:txBody>
      </p:sp>
      <p:sp>
        <p:nvSpPr>
          <p:cNvPr id="6" name="after-card"/>
          <p:cNvSpPr/>
          <p:nvPr/>
        </p:nvSpPr>
        <p:spPr>
          <a:xfrm>
            <a:off x="4709160" y="1097280"/>
            <a:ext cx="3977640" cy="187452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/>
        </p:spPr>
      </p:sp>
      <p:sp>
        <p:nvSpPr>
          <p:cNvPr id="7" name="after-head"/>
          <p:cNvSpPr txBox="1"/>
          <p:nvPr/>
        </p:nvSpPr>
        <p:spPr>
          <a:xfrm>
            <a:off x="49834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지금 · Cloudflare 서버리스</a:t>
            </a:r>
            <a:endParaRPr lang="en-US" sz="1600" dirty="0"/>
          </a:p>
        </p:txBody>
      </p:sp>
      <p:sp>
        <p:nvSpPr>
          <p:cNvPr id="8" name="after-body"/>
          <p:cNvSpPr txBox="1"/>
          <p:nvPr/>
        </p:nvSpPr>
        <p:spPr>
          <a:xfrm>
            <a:off x="4983480" y="16916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크론이 2시간마다 알아서 수집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Workers AI가 논조·심각도·요약 판정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휴대폰에서 확인, 수동 수정은 보존</a:t>
            </a:r>
            <a:endParaRPr lang="en-US" sz="1400" dirty="0"/>
          </a:p>
        </p:txBody>
      </p:sp>
      <p:sp>
        <p:nvSpPr>
          <p:cNvPr id="9" name="stat-0"/>
          <p:cNvSpPr txBox="1"/>
          <p:nvPr/>
        </p:nvSpPr>
        <p:spPr>
          <a:xfrm>
            <a:off x="457200" y="3291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2시간</a:t>
            </a:r>
            <a:endParaRPr lang="en-US" sz="3600" dirty="0"/>
          </a:p>
        </p:txBody>
      </p:sp>
      <p:sp>
        <p:nvSpPr>
          <p:cNvPr id="10" name="stat-label-0"/>
          <p:cNvSpPr txBox="1"/>
          <p:nvPr/>
        </p:nvSpPr>
        <p:spPr>
          <a:xfrm>
            <a:off x="457200" y="3959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수집 주기 · 크론 0 */2 * * *</a:t>
            </a:r>
            <a:endParaRPr lang="en-US" sz="1200" dirty="0"/>
          </a:p>
        </p:txBody>
      </p:sp>
      <p:sp>
        <p:nvSpPr>
          <p:cNvPr id="11" name="stat-1"/>
          <p:cNvSpPr txBox="1"/>
          <p:nvPr/>
        </p:nvSpPr>
        <p:spPr>
          <a:xfrm>
            <a:off x="3291840" y="3291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10+1</a:t>
            </a:r>
            <a:endParaRPr lang="en-US" sz="3600" dirty="0"/>
          </a:p>
        </p:txBody>
      </p:sp>
      <p:sp>
        <p:nvSpPr>
          <p:cNvPr id="12" name="stat-label-1"/>
          <p:cNvSpPr txBox="1"/>
          <p:nvPr/>
        </p:nvSpPr>
        <p:spPr>
          <a:xfrm>
            <a:off x="3291840" y="3959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RSS 피드 10개 + 네이버 뉴스 API</a:t>
            </a:r>
            <a:endParaRPr lang="en-US" sz="1200" dirty="0"/>
          </a:p>
        </p:txBody>
      </p:sp>
      <p:sp>
        <p:nvSpPr>
          <p:cNvPr id="13" name="stat-2"/>
          <p:cNvSpPr txBox="1"/>
          <p:nvPr/>
        </p:nvSpPr>
        <p:spPr>
          <a:xfrm>
            <a:off x="6126480" y="3291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0원</a:t>
            </a:r>
            <a:endParaRPr lang="en-US" sz="3600" dirty="0"/>
          </a:p>
        </p:txBody>
      </p:sp>
      <p:sp>
        <p:nvSpPr>
          <p:cNvPr id="14" name="stat-label-2"/>
          <p:cNvSpPr txBox="1"/>
          <p:nvPr/>
        </p:nvSpPr>
        <p:spPr>
          <a:xfrm>
            <a:off x="6126480" y="3959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운영비 · Cloudflare 무료 플랜 범위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수집부터 이슈 연결까지, 다섯 단계</a:t>
            </a:r>
            <a:endParaRPr lang="en-US" sz="2800" dirty="0"/>
          </a:p>
        </p:txBody>
      </p:sp>
      <p:sp>
        <p:nvSpPr>
          <p:cNvPr id="3" name="step-circle-0"/>
          <p:cNvSpPr/>
          <p:nvPr/>
        </p:nvSpPr>
        <p:spPr>
          <a:xfrm>
            <a:off x="960120" y="1143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tep-num-0"/>
          <p:cNvSpPr txBox="1"/>
          <p:nvPr/>
        </p:nvSpPr>
        <p:spPr>
          <a:xfrm>
            <a:off x="9601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-name-0"/>
          <p:cNvSpPr txBox="1"/>
          <p:nvPr/>
        </p:nvSpPr>
        <p:spPr>
          <a:xfrm>
            <a:off x="45720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수집</a:t>
            </a:r>
            <a:endParaRPr lang="en-US" sz="1500" dirty="0"/>
          </a:p>
        </p:txBody>
      </p:sp>
      <p:sp>
        <p:nvSpPr>
          <p:cNvPr id="6" name="step-desc-0"/>
          <p:cNvSpPr txBox="1"/>
          <p:nvPr/>
        </p:nvSpPr>
        <p:spPr>
          <a:xfrm>
            <a:off x="457200" y="20299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RSS·뉴스 검색을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병렬로 호출</a:t>
            </a:r>
            <a:endParaRPr lang="en-US" sz="1100" dirty="0"/>
          </a:p>
        </p:txBody>
      </p:sp>
      <p:sp>
        <p:nvSpPr>
          <p:cNvPr id="7" name="chevron-0"/>
          <p:cNvSpPr/>
          <p:nvPr/>
        </p:nvSpPr>
        <p:spPr>
          <a:xfrm>
            <a:off x="1965960" y="1261872"/>
            <a:ext cx="137160" cy="228600"/>
          </a:xfrm>
          <a:prstGeom prst="chevron">
            <a:avLst/>
          </a:prstGeom>
          <a:solidFill>
            <a:schemeClr val="bg2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tep-circle-1"/>
          <p:cNvSpPr/>
          <p:nvPr/>
        </p:nvSpPr>
        <p:spPr>
          <a:xfrm>
            <a:off x="2651760" y="1143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tep-num-1"/>
          <p:cNvSpPr txBox="1"/>
          <p:nvPr/>
        </p:nvSpPr>
        <p:spPr>
          <a:xfrm>
            <a:off x="26517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tep-name-1"/>
          <p:cNvSpPr txBox="1"/>
          <p:nvPr/>
        </p:nvSpPr>
        <p:spPr>
          <a:xfrm>
            <a:off x="214884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오탐 제거</a:t>
            </a:r>
            <a:endParaRPr lang="en-US" sz="1500" dirty="0"/>
          </a:p>
        </p:txBody>
      </p:sp>
      <p:sp>
        <p:nvSpPr>
          <p:cNvPr id="11" name="step-desc-1"/>
          <p:cNvSpPr txBox="1"/>
          <p:nvPr/>
        </p:nvSpPr>
        <p:spPr>
          <a:xfrm>
            <a:off x="2148840" y="20299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'핑거푸드' 같은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동음이의어 걸러냄</a:t>
            </a:r>
            <a:endParaRPr lang="en-US" sz="1100" dirty="0"/>
          </a:p>
        </p:txBody>
      </p:sp>
      <p:sp>
        <p:nvSpPr>
          <p:cNvPr id="12" name="chevron-1"/>
          <p:cNvSpPr/>
          <p:nvPr/>
        </p:nvSpPr>
        <p:spPr>
          <a:xfrm>
            <a:off x="3657600" y="1261872"/>
            <a:ext cx="137160" cy="228600"/>
          </a:xfrm>
          <a:prstGeom prst="chevron">
            <a:avLst/>
          </a:prstGeom>
          <a:solidFill>
            <a:schemeClr val="bg2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step-circle-2"/>
          <p:cNvSpPr/>
          <p:nvPr/>
        </p:nvSpPr>
        <p:spPr>
          <a:xfrm>
            <a:off x="4343400" y="1143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step-num-2"/>
          <p:cNvSpPr txBox="1"/>
          <p:nvPr/>
        </p:nvSpPr>
        <p:spPr>
          <a:xfrm>
            <a:off x="43434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tep-name-2"/>
          <p:cNvSpPr txBox="1"/>
          <p:nvPr/>
        </p:nvSpPr>
        <p:spPr>
          <a:xfrm>
            <a:off x="384048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중복 제거</a:t>
            </a:r>
            <a:endParaRPr lang="en-US" sz="1500" dirty="0"/>
          </a:p>
        </p:txBody>
      </p:sp>
      <p:sp>
        <p:nvSpPr>
          <p:cNvPr id="16" name="step-desc-2"/>
          <p:cNvSpPr txBox="1"/>
          <p:nvPr/>
        </p:nvSpPr>
        <p:spPr>
          <a:xfrm>
            <a:off x="3840480" y="20299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URL 정규화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제목 유사도 0.9</a:t>
            </a:r>
            <a:endParaRPr lang="en-US" sz="1100" dirty="0"/>
          </a:p>
        </p:txBody>
      </p:sp>
      <p:sp>
        <p:nvSpPr>
          <p:cNvPr id="17" name="chevron-2"/>
          <p:cNvSpPr/>
          <p:nvPr/>
        </p:nvSpPr>
        <p:spPr>
          <a:xfrm>
            <a:off x="5349240" y="1261872"/>
            <a:ext cx="137160" cy="228600"/>
          </a:xfrm>
          <a:prstGeom prst="chevron">
            <a:avLst/>
          </a:prstGeom>
          <a:solidFill>
            <a:schemeClr val="bg2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step-circle-3"/>
          <p:cNvSpPr/>
          <p:nvPr/>
        </p:nvSpPr>
        <p:spPr>
          <a:xfrm>
            <a:off x="6035040" y="1143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step-num-3"/>
          <p:cNvSpPr txBox="1"/>
          <p:nvPr/>
        </p:nvSpPr>
        <p:spPr>
          <a:xfrm>
            <a:off x="60350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step-name-3"/>
          <p:cNvSpPr txBox="1"/>
          <p:nvPr/>
        </p:nvSpPr>
        <p:spPr>
          <a:xfrm>
            <a:off x="553212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AI 분류</a:t>
            </a:r>
            <a:endParaRPr lang="en-US" sz="1500" dirty="0"/>
          </a:p>
        </p:txBody>
      </p:sp>
      <p:sp>
        <p:nvSpPr>
          <p:cNvPr id="21" name="step-desc-3"/>
          <p:cNvSpPr txBox="1"/>
          <p:nvPr/>
        </p:nvSpPr>
        <p:spPr>
          <a:xfrm>
            <a:off x="5532120" y="20299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논조·심각도·요약,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실패 시 규칙 폴백</a:t>
            </a:r>
            <a:endParaRPr lang="en-US" sz="1100" dirty="0"/>
          </a:p>
        </p:txBody>
      </p:sp>
      <p:sp>
        <p:nvSpPr>
          <p:cNvPr id="22" name="chevron-3"/>
          <p:cNvSpPr/>
          <p:nvPr/>
        </p:nvSpPr>
        <p:spPr>
          <a:xfrm>
            <a:off x="7040880" y="1261872"/>
            <a:ext cx="137160" cy="228600"/>
          </a:xfrm>
          <a:prstGeom prst="chevron">
            <a:avLst/>
          </a:prstGeom>
          <a:solidFill>
            <a:schemeClr val="bg2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tep-circle-4"/>
          <p:cNvSpPr/>
          <p:nvPr/>
        </p:nvSpPr>
        <p:spPr>
          <a:xfrm>
            <a:off x="7726680" y="1143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step-num-4"/>
          <p:cNvSpPr txBox="1"/>
          <p:nvPr/>
        </p:nvSpPr>
        <p:spPr>
          <a:xfrm>
            <a:off x="77266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step-name-4"/>
          <p:cNvSpPr txBox="1"/>
          <p:nvPr/>
        </p:nvSpPr>
        <p:spPr>
          <a:xfrm>
            <a:off x="722376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이슈 연결</a:t>
            </a:r>
            <a:endParaRPr lang="en-US" sz="1500" dirty="0"/>
          </a:p>
        </p:txBody>
      </p:sp>
      <p:sp>
        <p:nvSpPr>
          <p:cNvPr id="26" name="step-desc-4"/>
          <p:cNvSpPr txBox="1"/>
          <p:nvPr/>
        </p:nvSpPr>
        <p:spPr>
          <a:xfrm>
            <a:off x="7223760" y="20299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심각도 중·상이면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기존 이슈에 묶기</a:t>
            </a:r>
            <a:endParaRPr lang="en-US" sz="1100" dirty="0"/>
          </a:p>
        </p:txBody>
      </p:sp>
      <p:sp>
        <p:nvSpPr>
          <p:cNvPr id="27" name="run-card"/>
          <p:cNvSpPr/>
          <p:nvPr/>
        </p:nvSpPr>
        <p:spPr>
          <a:xfrm>
            <a:off x="457200" y="283464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28" name="run-label"/>
          <p:cNvSpPr txBox="1"/>
          <p:nvPr/>
        </p:nvSpPr>
        <p:spPr>
          <a:xfrm>
            <a:off x="685800" y="2926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10월 19일 첫 수집 결과</a:t>
            </a:r>
            <a:endParaRPr lang="en-US" sz="1200" dirty="0"/>
          </a:p>
        </p:txBody>
      </p:sp>
      <p:sp>
        <p:nvSpPr>
          <p:cNvPr id="29" name="funnel-n-0"/>
          <p:cNvSpPr txBox="1"/>
          <p:nvPr/>
        </p:nvSpPr>
        <p:spPr>
          <a:xfrm>
            <a:off x="2606040" y="2926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305</a:t>
            </a:r>
            <a:endParaRPr lang="en-US" sz="2400" dirty="0"/>
          </a:p>
        </p:txBody>
      </p:sp>
      <p:sp>
        <p:nvSpPr>
          <p:cNvPr id="30" name="funnel-l-0"/>
          <p:cNvSpPr txBox="1"/>
          <p:nvPr/>
        </p:nvSpPr>
        <p:spPr>
          <a:xfrm>
            <a:off x="260604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후보 기사</a:t>
            </a:r>
            <a:endParaRPr lang="en-US" sz="1100" dirty="0"/>
          </a:p>
        </p:txBody>
      </p:sp>
      <p:sp>
        <p:nvSpPr>
          <p:cNvPr id="31" name="funnel-arrow-0"/>
          <p:cNvSpPr txBox="1"/>
          <p:nvPr/>
        </p:nvSpPr>
        <p:spPr>
          <a:xfrm>
            <a:off x="374904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›</a:t>
            </a:r>
            <a:endParaRPr lang="en-US" sz="2000" dirty="0"/>
          </a:p>
        </p:txBody>
      </p:sp>
      <p:sp>
        <p:nvSpPr>
          <p:cNvPr id="32" name="funnel-n-1"/>
          <p:cNvSpPr txBox="1"/>
          <p:nvPr/>
        </p:nvSpPr>
        <p:spPr>
          <a:xfrm>
            <a:off x="4160520" y="2926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296</a:t>
            </a:r>
            <a:endParaRPr lang="en-US" sz="2400" dirty="0"/>
          </a:p>
        </p:txBody>
      </p:sp>
      <p:sp>
        <p:nvSpPr>
          <p:cNvPr id="33" name="funnel-l-1"/>
          <p:cNvSpPr txBox="1"/>
          <p:nvPr/>
        </p:nvSpPr>
        <p:spPr>
          <a:xfrm>
            <a:off x="416052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오탐 제외</a:t>
            </a:r>
            <a:endParaRPr lang="en-US" sz="1100" dirty="0"/>
          </a:p>
        </p:txBody>
      </p:sp>
      <p:sp>
        <p:nvSpPr>
          <p:cNvPr id="34" name="funnel-arrow-1"/>
          <p:cNvSpPr txBox="1"/>
          <p:nvPr/>
        </p:nvSpPr>
        <p:spPr>
          <a:xfrm>
            <a:off x="530352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›</a:t>
            </a:r>
            <a:endParaRPr lang="en-US" sz="2000" dirty="0"/>
          </a:p>
        </p:txBody>
      </p:sp>
      <p:sp>
        <p:nvSpPr>
          <p:cNvPr id="35" name="funnel-n-2"/>
          <p:cNvSpPr txBox="1"/>
          <p:nvPr/>
        </p:nvSpPr>
        <p:spPr>
          <a:xfrm>
            <a:off x="5715000" y="2926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</a:t>
            </a:r>
            <a:endParaRPr lang="en-US" sz="2400" dirty="0"/>
          </a:p>
        </p:txBody>
      </p:sp>
      <p:sp>
        <p:nvSpPr>
          <p:cNvPr id="36" name="funnel-l-2"/>
          <p:cNvSpPr txBox="1"/>
          <p:nvPr/>
        </p:nvSpPr>
        <p:spPr>
          <a:xfrm>
            <a:off x="571500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중복 제외</a:t>
            </a:r>
            <a:endParaRPr lang="en-US" sz="1100" dirty="0"/>
          </a:p>
        </p:txBody>
      </p:sp>
      <p:sp>
        <p:nvSpPr>
          <p:cNvPr id="37" name="funnel-arrow-2"/>
          <p:cNvSpPr txBox="1"/>
          <p:nvPr/>
        </p:nvSpPr>
        <p:spPr>
          <a:xfrm>
            <a:off x="685800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›</a:t>
            </a:r>
            <a:endParaRPr lang="en-US" sz="2000" dirty="0"/>
          </a:p>
        </p:txBody>
      </p:sp>
      <p:sp>
        <p:nvSpPr>
          <p:cNvPr id="38" name="funnel-n-3"/>
          <p:cNvSpPr txBox="1"/>
          <p:nvPr/>
        </p:nvSpPr>
        <p:spPr>
          <a:xfrm>
            <a:off x="7269480" y="2926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7</a:t>
            </a:r>
            <a:endParaRPr lang="en-US" sz="2400" dirty="0"/>
          </a:p>
        </p:txBody>
      </p:sp>
      <p:sp>
        <p:nvSpPr>
          <p:cNvPr id="39" name="funnel-l-3"/>
          <p:cNvSpPr txBox="1"/>
          <p:nvPr/>
        </p:nvSpPr>
        <p:spPr>
          <a:xfrm>
            <a:off x="726948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신규 저장</a:t>
            </a:r>
            <a:endParaRPr lang="en-US" sz="1100" dirty="0"/>
          </a:p>
        </p:txBody>
      </p:sp>
      <p:sp>
        <p:nvSpPr>
          <p:cNvPr id="40" name="chip-0"/>
          <p:cNvSpPr/>
          <p:nvPr/>
        </p:nvSpPr>
        <p:spPr>
          <a:xfrm>
            <a:off x="457200" y="4023360"/>
            <a:ext cx="182880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1" name="chip-text-0"/>
          <p:cNvSpPr txBox="1"/>
          <p:nvPr/>
        </p:nvSpPr>
        <p:spPr>
          <a:xfrm>
            <a:off x="45720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Cloudflare Workers</a:t>
            </a:r>
            <a:endParaRPr lang="en-US" sz="1100" dirty="0"/>
          </a:p>
        </p:txBody>
      </p:sp>
      <p:sp>
        <p:nvSpPr>
          <p:cNvPr id="42" name="chip-1"/>
          <p:cNvSpPr/>
          <p:nvPr/>
        </p:nvSpPr>
        <p:spPr>
          <a:xfrm>
            <a:off x="2395728" y="4023360"/>
            <a:ext cx="1719072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3" name="chip-text-1"/>
          <p:cNvSpPr txBox="1"/>
          <p:nvPr/>
        </p:nvSpPr>
        <p:spPr>
          <a:xfrm>
            <a:off x="2395728" y="40233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Cron Triggers</a:t>
            </a:r>
            <a:endParaRPr lang="en-US" sz="1100" dirty="0"/>
          </a:p>
        </p:txBody>
      </p:sp>
      <p:sp>
        <p:nvSpPr>
          <p:cNvPr id="44" name="chip-2"/>
          <p:cNvSpPr/>
          <p:nvPr/>
        </p:nvSpPr>
        <p:spPr>
          <a:xfrm>
            <a:off x="4224528" y="4023360"/>
            <a:ext cx="1517904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5" name="chip-text-2"/>
          <p:cNvSpPr txBox="1"/>
          <p:nvPr/>
        </p:nvSpPr>
        <p:spPr>
          <a:xfrm>
            <a:off x="4224528" y="4023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D1 (SQLite)</a:t>
            </a:r>
            <a:endParaRPr lang="en-US" sz="1100" dirty="0"/>
          </a:p>
        </p:txBody>
      </p:sp>
      <p:sp>
        <p:nvSpPr>
          <p:cNvPr id="46" name="chip-3"/>
          <p:cNvSpPr/>
          <p:nvPr/>
        </p:nvSpPr>
        <p:spPr>
          <a:xfrm>
            <a:off x="5852160" y="4023360"/>
            <a:ext cx="14173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7" name="chip-text-3"/>
          <p:cNvSpPr txBox="1"/>
          <p:nvPr/>
        </p:nvSpPr>
        <p:spPr>
          <a:xfrm>
            <a:off x="5852160" y="4023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Workers AI</a:t>
            </a:r>
            <a:endParaRPr lang="en-US" sz="1100" dirty="0"/>
          </a:p>
        </p:txBody>
      </p:sp>
      <p:sp>
        <p:nvSpPr>
          <p:cNvPr id="48" name="chip-4"/>
          <p:cNvSpPr/>
          <p:nvPr/>
        </p:nvSpPr>
        <p:spPr>
          <a:xfrm>
            <a:off x="7379208" y="4023360"/>
            <a:ext cx="1618488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9" name="chip-text-4"/>
          <p:cNvSpPr txBox="1"/>
          <p:nvPr/>
        </p:nvSpPr>
        <p:spPr>
          <a:xfrm>
            <a:off x="7379208" y="4023360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단일 HTML + JS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화면은 셋, 등급 기준은 하나</a:t>
            </a:r>
            <a:endParaRPr lang="en-US" sz="2800" dirty="0"/>
          </a:p>
        </p:txBody>
      </p:sp>
      <p:sp>
        <p:nvSpPr>
          <p:cNvPr id="3" name="phone-frame"/>
          <p:cNvSpPr/>
          <p:nvPr/>
        </p:nvSpPr>
        <p:spPr>
          <a:xfrm>
            <a:off x="457200" y="1051560"/>
            <a:ext cx="1874520" cy="3520440"/>
          </a:xfrm>
          <a:prstGeom prst="roundRect">
            <a:avLst>
              <a:gd name="adj" fmla="val 7805"/>
            </a:avLst>
          </a:prstGeom>
          <a:solidFill>
            <a:schemeClr val="tx2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4" name="이슈로그 화면" descr="C:\Users\USER\AppData\Local\Temp\claude\C--Users-USER-Desktop-finger-ir\18dbb6d6-a40e-41a1-90d2-93f075989dbe\scratchpad\deck\issu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1691640" cy="3337560"/>
          </a:xfrm>
          <a:prstGeom prst="rect">
            <a:avLst/>
          </a:prstGeom>
        </p:spPr>
      </p:pic>
      <p:sp>
        <p:nvSpPr>
          <p:cNvPr id="5" name="tab-chip-0"/>
          <p:cNvSpPr/>
          <p:nvPr/>
        </p:nvSpPr>
        <p:spPr>
          <a:xfrm>
            <a:off x="2606040" y="1097280"/>
            <a:ext cx="12344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sp>
        <p:nvSpPr>
          <p:cNvPr id="6" name="tab-name-0"/>
          <p:cNvSpPr txBox="1"/>
          <p:nvPr/>
        </p:nvSpPr>
        <p:spPr>
          <a:xfrm>
            <a:off x="2606040" y="10972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대시보드</a:t>
            </a:r>
            <a:endParaRPr lang="en-US" sz="1200" dirty="0"/>
          </a:p>
        </p:txBody>
      </p:sp>
      <p:sp>
        <p:nvSpPr>
          <p:cNvPr id="7" name="tab-desc-0"/>
          <p:cNvSpPr txBox="1"/>
          <p:nvPr/>
        </p:nvSpPr>
        <p:spPr>
          <a:xfrm>
            <a:off x="3977640" y="10972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미해결·중요·오늘 기사 KPI와 먼저 확인할 이슈 4건</a:t>
            </a:r>
            <a:endParaRPr lang="en-US" sz="1300" dirty="0"/>
          </a:p>
        </p:txBody>
      </p:sp>
      <p:sp>
        <p:nvSpPr>
          <p:cNvPr id="8" name="tab-chip-1"/>
          <p:cNvSpPr/>
          <p:nvPr/>
        </p:nvSpPr>
        <p:spPr>
          <a:xfrm>
            <a:off x="2606040" y="1645920"/>
            <a:ext cx="12344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sp>
        <p:nvSpPr>
          <p:cNvPr id="9" name="tab-name-1"/>
          <p:cNvSpPr txBox="1"/>
          <p:nvPr/>
        </p:nvSpPr>
        <p:spPr>
          <a:xfrm>
            <a:off x="2606040" y="16459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이슈로그</a:t>
            </a:r>
            <a:endParaRPr lang="en-US" sz="1200" dirty="0"/>
          </a:p>
        </p:txBody>
      </p:sp>
      <p:sp>
        <p:nvSpPr>
          <p:cNvPr id="10" name="tab-desc-1"/>
          <p:cNvSpPr txBox="1"/>
          <p:nvPr/>
        </p:nvSpPr>
        <p:spPr>
          <a:xfrm>
            <a:off x="3977640" y="164592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심각도·상태 필터, 대응 방향, 메모·수동 등급 수정</a:t>
            </a:r>
            <a:endParaRPr lang="en-US" sz="1300" dirty="0"/>
          </a:p>
        </p:txBody>
      </p:sp>
      <p:sp>
        <p:nvSpPr>
          <p:cNvPr id="11" name="tab-chip-2"/>
          <p:cNvSpPr/>
          <p:nvPr/>
        </p:nvSpPr>
        <p:spPr>
          <a:xfrm>
            <a:off x="2606040" y="2194560"/>
            <a:ext cx="12344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sp>
        <p:nvSpPr>
          <p:cNvPr id="12" name="tab-name-2"/>
          <p:cNvSpPr txBox="1"/>
          <p:nvPr/>
        </p:nvSpPr>
        <p:spPr>
          <a:xfrm>
            <a:off x="2606040" y="21945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기사아카이브</a:t>
            </a:r>
            <a:endParaRPr lang="en-US" sz="1200" dirty="0"/>
          </a:p>
        </p:txBody>
      </p:sp>
      <p:sp>
        <p:nvSpPr>
          <p:cNvPr id="13" name="tab-desc-2"/>
          <p:cNvSpPr txBox="1"/>
          <p:nvPr/>
        </p:nvSpPr>
        <p:spPr>
          <a:xfrm>
            <a:off x="3977640" y="219456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논조 필터, AI 요약·판단 근거, 원문 링크</a:t>
            </a:r>
            <a:endParaRPr lang="en-US" sz="1300" dirty="0"/>
          </a:p>
        </p:txBody>
      </p:sp>
      <p:sp>
        <p:nvSpPr>
          <p:cNvPr id="14" name="sev-head"/>
          <p:cNvSpPr txBox="1"/>
          <p:nvPr/>
        </p:nvSpPr>
        <p:spPr>
          <a:xfrm>
            <a:off x="2606040" y="2834640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심각도 기준 IR-2026-10-14-v1 · 논조(우호·중립·공격)와 독립 판정</a:t>
            </a:r>
            <a:endParaRPr lang="en-US" sz="1100" dirty="0"/>
          </a:p>
        </p:txBody>
      </p:sp>
      <p:sp>
        <p:nvSpPr>
          <p:cNvPr id="15" name="sev-card-0"/>
          <p:cNvSpPr/>
          <p:nvPr/>
        </p:nvSpPr>
        <p:spPr>
          <a:xfrm>
            <a:off x="2606040" y="3154680"/>
            <a:ext cx="144475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6" name="sev-badge-0"/>
          <p:cNvSpPr/>
          <p:nvPr/>
        </p:nvSpPr>
        <p:spPr>
          <a:xfrm>
            <a:off x="2715768" y="3264408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7" name="sev-name-0"/>
          <p:cNvSpPr txBox="1"/>
          <p:nvPr/>
        </p:nvSpPr>
        <p:spPr>
          <a:xfrm>
            <a:off x="2715768" y="32644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상</a:t>
            </a:r>
            <a:endParaRPr lang="en-US" sz="1100" dirty="0"/>
          </a:p>
        </p:txBody>
      </p:sp>
      <p:sp>
        <p:nvSpPr>
          <p:cNvPr id="18" name="sev-desc-0"/>
          <p:cNvSpPr txBox="1"/>
          <p:nvPr/>
        </p:nvSpPr>
        <p:spPr>
          <a:xfrm>
            <a:off x="2715768" y="3630168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경영권 변경, 자산 20%↑ 거래,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중대 제재·장애</a:t>
            </a:r>
            <a:endParaRPr lang="en-US" sz="1050" dirty="0"/>
          </a:p>
        </p:txBody>
      </p:sp>
      <p:sp>
        <p:nvSpPr>
          <p:cNvPr id="19" name="sev-card-1"/>
          <p:cNvSpPr/>
          <p:nvPr/>
        </p:nvSpPr>
        <p:spPr>
          <a:xfrm>
            <a:off x="4160520" y="3154680"/>
            <a:ext cx="144475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0" name="sev-badge-1"/>
          <p:cNvSpPr/>
          <p:nvPr/>
        </p:nvSpPr>
        <p:spPr>
          <a:xfrm>
            <a:off x="4270248" y="3264408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1" name="sev-name-1"/>
          <p:cNvSpPr txBox="1"/>
          <p:nvPr/>
        </p:nvSpPr>
        <p:spPr>
          <a:xfrm>
            <a:off x="4270248" y="32644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중</a:t>
            </a:r>
            <a:endParaRPr lang="en-US" sz="1100" dirty="0"/>
          </a:p>
        </p:txBody>
      </p:sp>
      <p:sp>
        <p:nvSpPr>
          <p:cNvPr id="22" name="sev-desc-1"/>
          <p:cNvSpPr txBox="1"/>
          <p:nvPr/>
        </p:nvSpPr>
        <p:spPr>
          <a:xfrm>
            <a:off x="4270248" y="3630168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계약·인허가 조건,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매각설, 지분 변화</a:t>
            </a:r>
            <a:endParaRPr lang="en-US" sz="1050" dirty="0"/>
          </a:p>
        </p:txBody>
      </p:sp>
      <p:sp>
        <p:nvSpPr>
          <p:cNvPr id="23" name="sev-card-2"/>
          <p:cNvSpPr/>
          <p:nvPr/>
        </p:nvSpPr>
        <p:spPr>
          <a:xfrm>
            <a:off x="5715000" y="3154680"/>
            <a:ext cx="144475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4" name="sev-badge-2"/>
          <p:cNvSpPr/>
          <p:nvPr/>
        </p:nvSpPr>
        <p:spPr>
          <a:xfrm>
            <a:off x="5824728" y="3264408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5" name="sev-name-2"/>
          <p:cNvSpPr txBox="1"/>
          <p:nvPr/>
        </p:nvSpPr>
        <p:spPr>
          <a:xfrm>
            <a:off x="5824728" y="32644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하</a:t>
            </a:r>
            <a:endParaRPr lang="en-US" sz="1100" dirty="0"/>
          </a:p>
        </p:txBody>
      </p:sp>
      <p:sp>
        <p:nvSpPr>
          <p:cNvPr id="26" name="sev-desc-2"/>
          <p:cNvSpPr txBox="1"/>
          <p:nvPr/>
        </p:nvSpPr>
        <p:spPr>
          <a:xfrm>
            <a:off x="5824728" y="3630168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홍보·수상 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일반 소식만 보관</a:t>
            </a:r>
            <a:endParaRPr lang="en-US" sz="1050" dirty="0"/>
          </a:p>
        </p:txBody>
      </p:sp>
      <p:sp>
        <p:nvSpPr>
          <p:cNvPr id="27" name="sev-card-3"/>
          <p:cNvSpPr/>
          <p:nvPr/>
        </p:nvSpPr>
        <p:spPr>
          <a:xfrm>
            <a:off x="7269480" y="3154680"/>
            <a:ext cx="144475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8" name="sev-badge-3"/>
          <p:cNvSpPr/>
          <p:nvPr/>
        </p:nvSpPr>
        <p:spPr>
          <a:xfrm>
            <a:off x="7379208" y="3264408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sev-name-3"/>
          <p:cNvSpPr txBox="1"/>
          <p:nvPr/>
        </p:nvSpPr>
        <p:spPr>
          <a:xfrm>
            <a:off x="7379208" y="32644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확인 필요</a:t>
            </a:r>
            <a:endParaRPr lang="en-US" sz="1100" dirty="0"/>
          </a:p>
        </p:txBody>
      </p:sp>
      <p:sp>
        <p:nvSpPr>
          <p:cNvPr id="30" name="sev-desc-3"/>
          <p:cNvSpPr txBox="1"/>
          <p:nvPr/>
        </p:nvSpPr>
        <p:spPr>
          <a:xfrm>
            <a:off x="7379208" y="3630168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AI 신뢰도 0.9 미만,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사람이 확정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다음 단계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지금 넣고 있는 것과, 넣었으면 더 좋을 것</a:t>
            </a:r>
            <a:endParaRPr lang="en-US" sz="1300" dirty="0"/>
          </a:p>
        </p:txBody>
      </p:sp>
      <p:sp>
        <p:nvSpPr>
          <p:cNvPr id="4" name="next-card-0"/>
          <p:cNvSpPr/>
          <p:nvPr/>
        </p:nvSpPr>
        <p:spPr>
          <a:xfrm>
            <a:off x="457200" y="1371600"/>
            <a:ext cx="39776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/>
        </p:spPr>
      </p:sp>
      <p:sp>
        <p:nvSpPr>
          <p:cNvPr id="5" name="next-tag-0"/>
          <p:cNvSpPr/>
          <p:nvPr/>
        </p:nvSpPr>
        <p:spPr>
          <a:xfrm>
            <a:off x="685800" y="1572768"/>
            <a:ext cx="77724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next-tag-text-0"/>
          <p:cNvSpPr txBox="1"/>
          <p:nvPr/>
        </p:nvSpPr>
        <p:spPr>
          <a:xfrm>
            <a:off x="685800" y="1572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곧 적용</a:t>
            </a:r>
            <a:endParaRPr lang="en-US" sz="1000" dirty="0"/>
          </a:p>
        </p:txBody>
      </p:sp>
      <p:sp>
        <p:nvSpPr>
          <p:cNvPr id="7" name="next-head-0"/>
          <p:cNvSpPr txBox="1"/>
          <p:nvPr/>
        </p:nvSpPr>
        <p:spPr>
          <a:xfrm>
            <a:off x="1600200" y="15270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텔레그램 알림</a:t>
            </a:r>
            <a:endParaRPr lang="en-US" sz="1600" dirty="0"/>
          </a:p>
        </p:txBody>
      </p:sp>
      <p:sp>
        <p:nvSpPr>
          <p:cNvPr id="8" name="next-desc-0"/>
          <p:cNvSpPr txBox="1"/>
          <p:nvPr/>
        </p:nvSpPr>
        <p:spPr>
          <a:xfrm>
            <a:off x="685800" y="199339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심각도 '상' 이슈가 새로 생기면 즉시 푸시,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아침 8시에 하루 요약 한 건</a:t>
            </a:r>
            <a:endParaRPr lang="en-US" sz="1200" dirty="0"/>
          </a:p>
        </p:txBody>
      </p:sp>
      <p:sp>
        <p:nvSpPr>
          <p:cNvPr id="9" name="next-card-1"/>
          <p:cNvSpPr/>
          <p:nvPr/>
        </p:nvSpPr>
        <p:spPr>
          <a:xfrm>
            <a:off x="4709160" y="1371600"/>
            <a:ext cx="39776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/>
        </p:spPr>
      </p:sp>
      <p:sp>
        <p:nvSpPr>
          <p:cNvPr id="10" name="next-tag-1"/>
          <p:cNvSpPr/>
          <p:nvPr/>
        </p:nvSpPr>
        <p:spPr>
          <a:xfrm>
            <a:off x="4937760" y="1572768"/>
            <a:ext cx="7772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next-tag-text-1"/>
          <p:cNvSpPr txBox="1"/>
          <p:nvPr/>
        </p:nvSpPr>
        <p:spPr>
          <a:xfrm>
            <a:off x="4937760" y="1572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제안</a:t>
            </a:r>
            <a:endParaRPr lang="en-US" sz="1000" dirty="0"/>
          </a:p>
        </p:txBody>
      </p:sp>
      <p:sp>
        <p:nvSpPr>
          <p:cNvPr id="12" name="next-head-1"/>
          <p:cNvSpPr txBox="1"/>
          <p:nvPr/>
        </p:nvSpPr>
        <p:spPr>
          <a:xfrm>
            <a:off x="5852160" y="15270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DART 공시 연동</a:t>
            </a:r>
            <a:endParaRPr lang="en-US" sz="1600" dirty="0"/>
          </a:p>
        </p:txBody>
      </p:sp>
      <p:sp>
        <p:nvSpPr>
          <p:cNvPr id="13" name="next-desc-1"/>
          <p:cNvSpPr txBox="1"/>
          <p:nvPr/>
        </p:nvSpPr>
        <p:spPr>
          <a:xfrm>
            <a:off x="4937760" y="199339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공시도 같은 파이프라인으로 적재,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출처는 'DART 공시'로 구분 표시</a:t>
            </a:r>
            <a:endParaRPr lang="en-US" sz="1200" dirty="0"/>
          </a:p>
        </p:txBody>
      </p:sp>
      <p:sp>
        <p:nvSpPr>
          <p:cNvPr id="14" name="next-card-2"/>
          <p:cNvSpPr/>
          <p:nvPr/>
        </p:nvSpPr>
        <p:spPr>
          <a:xfrm>
            <a:off x="457200" y="2971800"/>
            <a:ext cx="39776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/>
        </p:spPr>
      </p:sp>
      <p:sp>
        <p:nvSpPr>
          <p:cNvPr id="15" name="next-tag-2"/>
          <p:cNvSpPr/>
          <p:nvPr/>
        </p:nvSpPr>
        <p:spPr>
          <a:xfrm>
            <a:off x="685800" y="3172968"/>
            <a:ext cx="7772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next-tag-text-2"/>
          <p:cNvSpPr txBox="1"/>
          <p:nvPr/>
        </p:nvSpPr>
        <p:spPr>
          <a:xfrm>
            <a:off x="685800" y="31729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제안</a:t>
            </a:r>
            <a:endParaRPr lang="en-US" sz="1000" dirty="0"/>
          </a:p>
        </p:txBody>
      </p:sp>
      <p:sp>
        <p:nvSpPr>
          <p:cNvPr id="17" name="next-head-2"/>
          <p:cNvSpPr txBox="1"/>
          <p:nvPr/>
        </p:nvSpPr>
        <p:spPr>
          <a:xfrm>
            <a:off x="1600200" y="31272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네이버 뉴스 API 연결</a:t>
            </a:r>
            <a:endParaRPr lang="en-US" sz="1600" dirty="0"/>
          </a:p>
        </p:txBody>
      </p:sp>
      <p:sp>
        <p:nvSpPr>
          <p:cNvPr id="18" name="next-desc-2"/>
          <p:cNvSpPr txBox="1"/>
          <p:nvPr/>
        </p:nvSpPr>
        <p:spPr>
          <a:xfrm>
            <a:off x="685800" y="359359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키 두 개만 등록하면 소스 확대,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지금은 RSS만 동작</a:t>
            </a:r>
            <a:endParaRPr lang="en-US" sz="1200" dirty="0"/>
          </a:p>
        </p:txBody>
      </p:sp>
      <p:sp>
        <p:nvSpPr>
          <p:cNvPr id="19" name="next-card-3"/>
          <p:cNvSpPr/>
          <p:nvPr/>
        </p:nvSpPr>
        <p:spPr>
          <a:xfrm>
            <a:off x="4709160" y="2971800"/>
            <a:ext cx="39776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/>
        </p:spPr>
      </p:sp>
      <p:sp>
        <p:nvSpPr>
          <p:cNvPr id="20" name="next-tag-3"/>
          <p:cNvSpPr/>
          <p:nvPr/>
        </p:nvSpPr>
        <p:spPr>
          <a:xfrm>
            <a:off x="4937760" y="3172968"/>
            <a:ext cx="7772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next-tag-text-3"/>
          <p:cNvSpPr txBox="1"/>
          <p:nvPr/>
        </p:nvSpPr>
        <p:spPr>
          <a:xfrm>
            <a:off x="4937760" y="31729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제안</a:t>
            </a:r>
            <a:endParaRPr lang="en-US" sz="1000" dirty="0"/>
          </a:p>
        </p:txBody>
      </p:sp>
      <p:sp>
        <p:nvSpPr>
          <p:cNvPr id="22" name="next-head-3"/>
          <p:cNvSpPr txBox="1"/>
          <p:nvPr/>
        </p:nvSpPr>
        <p:spPr>
          <a:xfrm>
            <a:off x="5852160" y="31272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분류 품질 점검</a:t>
            </a:r>
            <a:endParaRPr lang="en-US" sz="1600" dirty="0"/>
          </a:p>
        </p:txBody>
      </p:sp>
      <p:sp>
        <p:nvSpPr>
          <p:cNvPr id="23" name="next-desc-3"/>
          <p:cNvSpPr txBox="1"/>
          <p:nvPr/>
        </p:nvSpPr>
        <p:spPr>
          <a:xfrm>
            <a:off x="4937760" y="359359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'확인 필요' 비율과 AI 실패 사유를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주 1회 확인, 기준 버전 관리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gerIR">
  <a:themeElements>
    <a:clrScheme name="FingerIR">
      <a:dk1>
        <a:srgbClr val="0F172A"/>
      </a:dk1>
      <a:lt1>
        <a:srgbClr val="FFFFFF"/>
      </a:lt1>
      <a:dk2>
        <a:srgbClr val="17334F"/>
      </a:dk2>
      <a:lt2>
        <a:srgbClr val="F1F5F9"/>
      </a:lt2>
      <a:accent1>
        <a:srgbClr val="2E75B6"/>
      </a:accent1>
      <a:accent2>
        <a:srgbClr val="DC2626"/>
      </a:accent2>
      <a:accent3>
        <a:srgbClr val="16A34A"/>
      </a:accent3>
      <a:accent4>
        <a:srgbClr val="D97706"/>
      </a:accent4>
      <a:accent5>
        <a:srgbClr val="64748B"/>
      </a:accent5>
      <a:accent6>
        <a:srgbClr val="7DD3FC"/>
      </a:accent6>
      <a:hlink>
        <a:srgbClr val="2E75B6"/>
      </a:hlink>
      <a:folHlink>
        <a:srgbClr val="64748B"/>
      </a:folHlink>
    </a:clrScheme>
    <a:fontScheme name="FingerI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핑거 IR 자동 뉴스 클리핑</dc:title>
  <dc:subject>PptxGenJS Presentation</dc:subject>
  <dc:creator>remo</dc:creator>
  <cp:lastModifiedBy>remo</cp:lastModifiedBy>
  <cp:revision>1</cp:revision>
  <dcterms:created xsi:type="dcterms:W3CDTF">2026-10-19T07:38:19Z</dcterms:created>
  <dcterms:modified xsi:type="dcterms:W3CDTF">2026-10-19T07:38:19Z</dcterms:modified>
</cp:coreProperties>
</file>